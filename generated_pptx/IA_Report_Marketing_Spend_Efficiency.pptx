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20758"/>
    <p:restoredTop sz="94660"/>
  </p:normalViewPr>
  <p:slideViewPr>
    <p:cSldViewPr snapToGrid="0">
      <p:cViewPr varScale="1">
        <p:scale>
          <a:sx d="100" n="32"/>
          <a:sy d="100" n="32"/>
        </p:scale>
        <p:origin x="72" y="164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Relationship Id="rId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5953F-D6BC-7B30-3DE6-D06AC45639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556FF-752D-4F71-2B8D-EA7E5E984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65275-C7C9-B9A4-95CD-2AF35A98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FBC85-0D98-44D8-29A0-E91D130FA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12C1C-6CB5-4524-F301-0FDB0A91E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62189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FAF24-6D7E-0F39-9D06-6C7145814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17A65-FA99-5BD9-5363-5D8A9B5EC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7D908-0BBE-7C2C-5CFF-07EFA53F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1528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A213-9A08-83FF-31E1-9F6A1E7BF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3ACAD-56CE-382F-9A35-2EE1B5ED7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64D9-AA72-E2C0-D7DC-67A648DC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4819D-44C7-8700-C876-297406B73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B0C9A-7456-B9A3-44A6-6985C5DE8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88243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B050-BFD1-4D4A-D71D-3977D6666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834E9-83B8-EA1A-46E5-25A72CFBD9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85B3D-7D98-02F1-BF88-31FE20F4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C1C6A-28B0-AA3E-3A27-DDB52CAB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815A17-FC47-8A8C-EF87-413D6A219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ACECE-213D-995B-4831-701ACC6A6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8658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82791-CF2B-129F-92D7-2B05F1489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4D488-F085-6694-C3CA-42409EAAE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75BF68-087A-42E8-4753-57A511132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AFD2F-5D8E-30B9-B8B8-E01B3B5019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46DA77-04D6-8B10-C456-366AE07EE8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1B11CF-86A0-3689-95DF-1B7A9409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FA39A0-F7C1-FB7B-E491-9434DE3AF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5D6D15-FCDD-6CFD-7DF0-6E49E01D8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98540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B8D1D-0569-A2B4-C8ED-C2F1054B0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16E50E-A22D-6BFF-1429-D771EA27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AFC58F-B80D-956A-1F97-70C7CA4B6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9DAFA-3D78-9E2E-FC71-19BD2F36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76906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9D48F-9766-A54B-7812-839CE2A9A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CAB327-813A-CD0D-4BD2-4BD946255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4253B-E78D-BE18-AEC9-FF9B1DCEA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0767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F759-5AD4-29F3-9100-380C327A3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D1D08-B0AE-1A81-ED3A-4891CA586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BE2144-7A9C-63CF-07DA-F16FA8951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C05BF-5AFD-CB1E-6BBD-C380B8B61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00B56-8C85-7B6E-B167-19EB63F99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32334E-555D-CFB0-89D0-97D325BD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0876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65F6C-7D9B-8CDB-4FDA-97617DA5E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2A286-EF39-D19F-6AED-D9D1E3932E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94D32E-F03A-72D2-D095-05458B890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F2E7A-3207-459D-2769-6252ACDB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A2F3A-5C5A-BBE6-F3D0-05602942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01AB9-BD39-E705-A930-BFEF8ABFD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83377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201F-B1B7-1029-296C-F720FDDA6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A8998-A410-7754-0E14-382F89432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C6493-FD71-AA44-55C4-8E72B7560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CAD15-C080-10B8-6D64-1E1159EDB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1EEA8-9FC4-B190-02F1-BC740500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1718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2DECAC-E3F3-8704-B1BB-B4599F6C7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0DDDF-2C2B-691D-F92A-352397B5A2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C1735-3023-318F-2D75-3FE775A86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C4CE3-9C4C-B664-36C2-B29412816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C1162-1EF0-D539-CB95-467208EE4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146380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FA727A-90BD-E82F-E243-C3F5F8D8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A7B-70A6-DC96-2F02-BAF9C141D7D9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1C8F7-D386-CD19-8EBB-064398CE2356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7E7F55-C95F-45EB-B3AD-34BFFCCDDEDC}" type="datetimeFigureOut">
              <a:rPr lang="en-PH" smtClean="0"/>
              <a:t>1/21/2026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9B90E-4F2C-02F3-B1CA-3759529150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FD51E-3D4A-2DF5-5A0A-A2203427496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B3608E-A80E-48BE-8A0E-8F077BFC9C4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6120127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Title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Report:</a:t>
            </a:r>
            <a:r>
              <a:rPr/>
              <a:t> Marketing Spend and Agency Management Audit</a:t>
            </a:r>
          </a:p>
          <a:p>
            <a:pPr lvl="0" indent="0" marL="0">
              <a:buNone/>
            </a:pPr>
            <a:r>
              <a:rPr b="1"/>
              <a:t>Business Unit:</a:t>
            </a:r>
            <a:r>
              <a:rPr/>
              <a:t> Marketing</a:t>
            </a:r>
          </a:p>
          <a:p>
            <a:pPr lvl="0" indent="0" marL="0">
              <a:buNone/>
            </a:pPr>
            <a:r>
              <a:rPr b="1"/>
              <a:t>Date:</a:t>
            </a:r>
            <a:r>
              <a:rPr/>
              <a:t> March 25,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Objectives</a:t>
            </a:r>
          </a:p>
          <a:p>
            <a:pPr lvl="0" indent="0" marL="0">
              <a:buNone/>
            </a:pPr>
            <a:r>
              <a:rPr/>
              <a:t>To evaluate the procurement of agency services and the tracking of marketing ROI.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Marketing spend is $5M/year, with 70% allocated to digital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Scope</a:t>
            </a:r>
          </a:p>
          <a:p>
            <a:pPr lvl="0" indent="0" marL="0">
              <a:buNone/>
            </a:pPr>
            <a:r>
              <a:rPr/>
              <a:t>Review of agency contracts and performance-based incentive payments.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1: Lack of Competitive Agency Bidding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Three major digital agencies have been retained for 5+ years without a market re-bid.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Overpaying for services and missing out on innovative market practices.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FOR IMPROVEMENT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Mandate a Request for Proposal (RFP) process every 3 years for all agencies.</a:t>
            </a:r>
          </a:p>
          <a:p>
            <a:pPr lvl="0" indent="0" marL="0">
              <a:buNone/>
            </a:pPr>
            <a:r>
              <a:rPr b="1"/>
              <a:t>Status:</a:t>
            </a:r>
            <a:r>
              <a:rPr/>
              <a:t> Open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Observation 2: Unverified ‘Pass-Through’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Issue:</a:t>
            </a:r>
            <a:r>
              <a:rPr/>
              <a:t> Agencies were found to be adding markups to ‘pass-through’ media buys against contract terms.</a:t>
            </a:r>
          </a:p>
          <a:p>
            <a:pPr lvl="0" indent="0" marL="0">
              <a:buNone/>
            </a:pPr>
            <a:r>
              <a:rPr b="1"/>
              <a:t>Risk:</a:t>
            </a:r>
            <a:r>
              <a:rPr/>
              <a:t> Direct financial leakage and breach of contract.</a:t>
            </a:r>
          </a:p>
          <a:p>
            <a:pPr lvl="0" indent="0" marL="0">
              <a:buNone/>
            </a:pPr>
            <a:r>
              <a:rPr b="1"/>
              <a:t>Risk Rating:</a:t>
            </a:r>
            <a:r>
              <a:rPr/>
              <a:t> </a:t>
            </a:r>
            <a:r>
              <a:rPr b="1"/>
              <a:t>INADEQUATE</a:t>
            </a:r>
          </a:p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Exercise ‘Right to Audit’ clauses for all major agency billings.</a:t>
            </a:r>
          </a:p>
          <a:p>
            <a:pPr lvl="0" indent="0" marL="0">
              <a:buNone/>
            </a:pPr>
            <a:r>
              <a:rPr b="1"/>
              <a:t>Status:</a:t>
            </a:r>
            <a:r>
              <a:rPr/>
              <a:t> Not Started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372A-B53C-DC4A-503E-B93743A1C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Launch an RFP for digital marketing services.</a:t>
            </a:r>
          </a:p>
          <a:p>
            <a:pPr lvl="0" indent="-457200" marL="457200">
              <a:buAutoNum type="arabicPeriod"/>
            </a:pPr>
            <a:r>
              <a:rPr/>
              <a:t>Conduct a forensic audit of the top 2 spend agencies.</a:t>
            </a:r>
          </a:p>
          <a:p>
            <a:pPr lvl="0" indent="-457200" marL="457200">
              <a:buAutoNum type="arabicPeriod"/>
            </a:pPr>
            <a:r>
              <a:rPr/>
              <a:t>Standardize agency performance KPIs.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85442-58A5-C5F4-2756-C5F663A9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 Action Plan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Action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Agency RFP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Marketing 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October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Forensic Audit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Internal Audit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June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Contract Review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Procurement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May 2026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2026-01-25T15:34:07Z</dcterms:created>
  <dcterms:modified xsi:type="dcterms:W3CDTF">2026-01-25T15:34:07Z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