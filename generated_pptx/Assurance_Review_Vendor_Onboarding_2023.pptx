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Assurance Review: Third-Party Vendor Onboarding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Global Procurement Office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October 12, 2023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Executive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provide independent assurance over the effectiveness of controls governing the vendor selection, due diligence, and onboarding processes.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Following the expansion into EMEA markets, the vendor landscape increased by 40%. This audit evaluates the integrity of the vendor master file and adherence to the Global Procurement Policy.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Transactions and onboarding workflows completed between January 1, 2023, and September 30, 2023, specifically focusing on high-spend and high-risk categories.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Observation 1: Missing Sanctions and Anti-Money Laundering (AML) Screening</a:t>
            </a:r>
          </a:p>
          <a:p>
            <a:pPr lvl="0" indent="0" marL="0">
              <a:buNone/>
            </a:pPr>
            <a:r>
              <a:rPr b="1"/>
              <a:t>Issue:</a:t>
            </a:r>
            <a:r>
              <a:rPr/>
              <a:t> 15% of sampled high-risk vendors lacked evidence of PEP (Politically Exposed Persons) or Sanctions screening prior to contract execution.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Financial loss, severe legal penalties, and reputational damage resulting from engagement with sanctioned entities.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an automated block in the ERP system that prevents vendor activation until a ‘Passed’ screening certificate is uploaded and verified.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Observation 2: Incomplete Financial Due Diligence</a:t>
            </a:r>
          </a:p>
          <a:p>
            <a:pPr lvl="0" indent="0" marL="0">
              <a:buNone/>
            </a:pPr>
            <a:r>
              <a:rPr b="1"/>
              <a:t>Issue:</a:t>
            </a:r>
            <a:r>
              <a:rPr/>
              <a:t> Financial solvency assessments were not consistently performed for critical tier-1 suppliers, with several assessments missing current year’s audited financials.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Supply chain disruption if a critical vendor faces insolvency or bankruptcy.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Establish a threshold-based trigger for financial reviews and implement a centralized repository for annual financial monitoring documents.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Recommendations Summary</a:t>
            </a:r>
          </a:p>
          <a:p>
            <a:pPr lvl="0" indent="-342900" marL="342900">
              <a:buAutoNum type="arabicPeriod"/>
            </a:pPr>
            <a:r>
              <a:rPr b="1"/>
              <a:t>Systemic Controls:</a:t>
            </a:r>
            <a:r>
              <a:rPr/>
              <a:t> Implement hard-stops in the Procurement Portal to enforce compliance with screening protocols.</a:t>
            </a:r>
          </a:p>
          <a:p>
            <a:pPr lvl="0" indent="-342900" marL="342900">
              <a:buAutoNum type="arabicPeriod"/>
            </a:pPr>
            <a:r>
              <a:rPr b="1"/>
              <a:t>Due Diligence Standards:</a:t>
            </a:r>
            <a:r>
              <a:rPr/>
              <a:t> Update the Procurement Policy to define specific ‘Financial Solvency’ criteria for Tier-1 suppliers.</a:t>
            </a:r>
          </a:p>
          <a:p>
            <a:pPr lvl="0" indent="-342900" marL="342900">
              <a:buAutoNum type="arabicPeriod"/>
            </a:pPr>
            <a:r>
              <a:rPr b="1"/>
              <a:t>Training:</a:t>
            </a:r>
            <a:r>
              <a:rPr/>
              <a:t> Conduct mandatory training for Procurement Officers on the updated Sanctions Screening workflow.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Implement ERP hard-stops for screening docs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Head of IT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 15, 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Update Global Procurement Policy v2.0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Chief Procurement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Nov 30, 2023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Staff Training on AML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Jan 15, 2024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2026-01-20T08:06:35Z</dcterms:created>
  <dcterms:modified xsi:type="dcterms:W3CDTF">2026-01-20T08:06:35Z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