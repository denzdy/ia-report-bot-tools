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20758"/>
    <p:restoredTop sz="94660"/>
  </p:normalViewPr>
  <p:slideViewPr>
    <p:cSldViewPr snapToGrid="0">
      <p:cViewPr varScale="1">
        <p:scale>
          <a:sx d="100" n="32"/>
          <a:sy d="100" n="32"/>
        </p:scale>
        <p:origin x="72" y="1644"/>
      </p:cViewPr>
      <p:guideLst/>
    </p:cSldViewPr>
  </p:slideViewPr>
  <p:notesTextViewPr>
    <p:cViewPr>
      <p:scale>
        <a:sx d="1" n="1"/>
        <a:sy d="1" n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1" Type="http://schemas.openxmlformats.org/officeDocument/2006/relationships/tableStyles" Target="tableStyles.xml" /><Relationship Id="rId10" Type="http://schemas.openxmlformats.org/officeDocument/2006/relationships/theme" Target="theme/theme1.xml" /><Relationship Id="rId9" Type="http://schemas.openxmlformats.org/officeDocument/2006/relationships/viewProps" Target="viewProps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15953F-D6BC-7B30-3DE6-D06AC45639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B556FF-752D-4F71-2B8D-EA7E5E984E7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5275-C7C9-B9A4-95CD-2AF35A985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5FBC85-0D98-44D8-29A0-E91D130FA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312C1C-6CB5-4524-F301-0FDB0A91E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621899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PH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PH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FAF24-6D7E-0F39-9D06-6C7145814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E17A65-FA99-5BD9-5363-5D8A9B5EC8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7D908-0BBE-7C2C-5CFF-07EFA53F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61528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C3A213-9A08-83FF-31E1-9F6A1E7BF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3ACAD-56CE-382F-9A35-2EE1B5ED73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1864D9-AA72-E2C0-D7DC-67A648DC4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24819D-44C7-8700-C876-297406B73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9B0C9A-7456-B9A3-44A6-6985C5DE8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5882433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33B050-BFD1-4D4A-D71D-3977D6666E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834E9-83B8-EA1A-46E5-25A72CFBD9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8685B3D-7D98-02F1-BF88-31FE20F453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F6C1C6A-28B0-AA3E-3A27-DDB52CAB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815A17-FC47-8A8C-EF87-413D6A219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40ACECE-213D-995B-4831-701ACC6A6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9865814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2791-CF2B-129F-92D7-2B05F14891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34D488-F085-6694-C3CA-42409EAAEE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75BF68-087A-42E8-4753-57A511132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7AFD2F-5D8E-30B9-B8B8-E01B3B5019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46DA77-04D6-8B10-C456-366AE07EE8D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B11CF-86A0-3689-95DF-1B7A94096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6FA39A0-F7C1-FB7B-E491-9434DE3AF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75D6D15-FCDD-6CFD-7DF0-6E49E01D8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985401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BB8D1D-0569-A2B4-C8ED-C2F1054B0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16E50E-A22D-6BFF-1429-D771EA2714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AFC58F-B80D-956A-1F97-70C7CA4B6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079DAFA-3D78-9E2E-FC71-19BD2F361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76906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D9D48F-9766-A54B-7812-839CE2A9A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7CAB327-813A-CD0D-4BD2-4BD946255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24253B-E78D-BE18-AEC9-FF9B1DCE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076755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1F759-5AD4-29F3-9100-380C327A3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1D1D08-B0AE-1A81-ED3A-4891CA586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BE2144-7A9C-63CF-07DA-F16FA8951C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8C05BF-5AFD-CB1E-6BBD-C380B8B61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B00B56-8C85-7B6E-B167-19EB63F99A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32334E-555D-CFB0-89D0-97D325BD0C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0876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765F6C-7D9B-8CDB-4FDA-97617DA5E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152A286-EF39-D19F-6AED-D9D1E3932E7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94D32E-F03A-72D2-D095-05458B890F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F2E7A-3207-459D-2769-6252ACDB8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B0A2F3A-5C5A-BBE6-F3D0-0560294251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601AB9-BD39-E705-A930-BFEF8ABFD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8833777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5201F-B1B7-1029-296C-F720FDDA6E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A8998-A410-7754-0E14-382F89432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CC6493-FD71-AA44-55C4-8E72B75609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CAD15-C080-10B8-6D64-1E1159EDB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A1EEA8-9FC4-B190-02F1-BC74050085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081718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22DECAC-E3F3-8704-B1BB-B4599F6C78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D0DDDF-2C2B-691D-F92A-352397B5A2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C1735-3023-318F-2D75-3FE775A86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C4CE3-9C4C-B664-36C2-B29412816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1C1162-1EF0-D539-CB95-467208EE4C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1463803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DFA727A-90BD-E82F-E243-C3F5F8D8FF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B6FA7B-70A6-DC96-2F02-BAF9C141D7D9}"/>
              </a:ext>
            </a:extLst>
          </p:cNvPr>
          <p:cNvSpPr>
            <a:spLocks noGrp="1"/>
          </p:cNvSpPr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B1C8F7-D386-CD19-8EBB-064398CE2356}"/>
              </a:ext>
            </a:extLst>
          </p:cNvPr>
          <p:cNvSpPr>
            <a:spLocks noGrp="1"/>
          </p:cNvSpPr>
          <p:nvPr>
            <p:ph idx="2" sz="half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7E7F55-C95F-45EB-B3AD-34BFFCCDDEDC}" type="datetimeFigureOut">
              <a:rPr lang="en-PH" smtClean="0"/>
              <a:t>1/21/2026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69B90E-4F2C-02F3-B1CA-3759529150D5}"/>
              </a:ext>
            </a:extLst>
          </p:cNvPr>
          <p:cNvSpPr>
            <a:spLocks noGrp="1"/>
          </p:cNvSpPr>
          <p:nvPr>
            <p:ph idx="3" sz="quarter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6FD51E-3D4A-2DF5-5A0A-A22034274966}"/>
              </a:ext>
            </a:extLst>
          </p:cNvPr>
          <p:cNvSpPr>
            <a:spLocks noGrp="1"/>
          </p:cNvSpPr>
          <p:nvPr>
            <p:ph idx="4" sz="quarter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B3608E-A80E-48BE-8A0E-8F077BFC9C4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6120127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eaLnBrk="1" hangingPunct="1" latinLnBrk="0" rtl="0">
        <a:lnSpc>
          <a:spcPct val="90000"/>
        </a:lnSpc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228600" latinLnBrk="0" marL="228600" rtl="0">
        <a:lnSpc>
          <a:spcPct val="90000"/>
        </a:lnSpc>
        <a:spcBef>
          <a:spcPts val="1000"/>
        </a:spcBef>
        <a:buFont charset="0" panose="020B0604020202020204" pitchFamily="34" typeface="Arial"/>
        <a:buChar char="•"/>
        <a:defRPr kern="1200" sz="2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28600" latinLnBrk="0" marL="685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lnSpc>
          <a:spcPct val="90000"/>
        </a:lnSpc>
        <a:spcBef>
          <a:spcPts val="500"/>
        </a:spcBef>
        <a:buFont charset="0" panose="020B0604020202020204" pitchFamily="34"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Internal Audit - Office Supplies &amp; Low-Value Procurement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General Corporate Operations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January 8,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Executive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Objectives</a:t>
            </a:r>
          </a:p>
          <a:p>
            <a:pPr lvl="0" indent="0" marL="0">
              <a:buNone/>
            </a:pPr>
            <a:r>
              <a:rPr/>
              <a:t>To review controls over office supply procurement, catalog management, and petty purchasing thresholds.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Background</a:t>
            </a:r>
          </a:p>
          <a:p>
            <a:pPr lvl="0" indent="0" marL="0">
              <a:buNone/>
            </a:pPr>
            <a:r>
              <a:rPr/>
              <a:t>Office supplies are procured via internal catalogues and low-value purchase processes across departments.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Scope</a:t>
            </a:r>
          </a:p>
          <a:p>
            <a:pPr lvl="0" indent="0" marL="0">
              <a:buNone/>
            </a:pPr>
            <a:r>
              <a:rPr/>
              <a:t>Assessment of catalog controls, delegation of authority, and purchase order compliance for 2025.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1: Catalog Price Variances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Catalog items showed inconsistent pricing across locations without documented justification.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Overpayment and lack of centralized price management.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Centralize catalog pricing and require justification for local price overrides.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Observation 2: Delegation Threshold Misuse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Issue:</a:t>
            </a:r>
            <a:r>
              <a:rPr/>
              <a:t> Purchases above petty thresholds were approved by unauthorized staff in several cases.</a:t>
            </a:r>
          </a:p>
          <a:p>
            <a:pPr lvl="0" indent="0" marL="0">
              <a:buNone/>
            </a:pPr>
            <a:r>
              <a:rPr b="1"/>
              <a:t>Risk:</a:t>
            </a:r>
            <a:r>
              <a:rPr/>
              <a:t> Policy breaches and increased fraud risk.</a:t>
            </a:r>
          </a:p>
          <a:p>
            <a:pPr lvl="0" indent="0" marL="0">
              <a:buNone/>
            </a:pPr>
            <a:r>
              <a:rPr b="1"/>
              <a:t>Risk Rating:</a:t>
            </a:r>
            <a:r>
              <a:rPr/>
              <a:t> </a:t>
            </a:r>
            <a:r>
              <a:rPr b="1"/>
              <a:t>FOR IMPROVEMENT</a:t>
            </a:r>
          </a:p>
          <a:p>
            <a:pPr lvl="0" indent="0" marL="0">
              <a:buNone/>
            </a:pPr>
            <a:r>
              <a:rPr b="1"/>
              <a:t>Recommendation:</a:t>
            </a:r>
            <a:r>
              <a:rPr/>
              <a:t> Enforce approval matrices and implement system controls to block unauthorized approvals.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Recommendations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2372A-B53C-DC4A-503E-B93743A1C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-457200" marL="457200">
              <a:buAutoNum type="arabicPeriod"/>
            </a:pPr>
            <a:r>
              <a:rPr/>
              <a:t>Centralize catalog pricing and manage local overrides.</a:t>
            </a:r>
          </a:p>
          <a:p>
            <a:pPr lvl="0" indent="-457200" marL="457200">
              <a:buAutoNum type="arabicPeriod"/>
            </a:pPr>
            <a:r>
              <a:rPr/>
              <a:t>Enforce delegation matrices with system controls.</a:t>
            </a:r>
          </a:p>
          <a:p>
            <a:pPr lvl="0" indent="-457200" marL="457200">
              <a:buAutoNum type="arabicPeriod"/>
            </a:pPr>
            <a:r>
              <a:rPr/>
              <a:t>Periodic review of low-value spend categories.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85442-58A5-C5F4-2756-C5F663A96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Management Action Plan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838200" y="1816100"/>
          <a:ext cx="1051560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/>
                <a:gridCol w="3505200"/>
                <a:gridCol w="3505200"/>
              </a:tblGrid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Action 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Deadline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Catalog price centralization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Procurement Ops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Approval matrix enforcement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 Systems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Feb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Low-value spend review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Category Manager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l">
                        <a:buNone/>
                      </a:pPr>
                      <a:r>
                        <a:rPr/>
                        <a:t>April 2026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2026-01-27T17:01:16Z</dcterms:created>
  <dcterms:modified xsi:type="dcterms:W3CDTF">2026-01-27T17:01:16Z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