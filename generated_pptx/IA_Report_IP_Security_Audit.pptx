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20758"/>
    <p:restoredTop sz="94660"/>
  </p:normalViewPr>
  <p:slideViewPr>
    <p:cSldViewPr snapToGrid="0">
      <p:cViewPr varScale="1">
        <p:scale>
          <a:sx d="100" n="32"/>
          <a:sy d="100" n="32"/>
        </p:scale>
        <p:origin x="72" y="1644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Relationship Id="rId9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5953F-D6BC-7B30-3DE6-D06AC4563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B556FF-752D-4F71-2B8D-EA7E5E984E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65275-C7C9-B9A4-95CD-2AF35A985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FBC85-0D98-44D8-29A0-E91D130FA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12C1C-6CB5-4524-F301-0FDB0A91E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62189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FAF24-6D7E-0F39-9D06-6C7145814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17A65-FA99-5BD9-5363-5D8A9B5EC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7D908-0BBE-7C2C-5CFF-07EFA53F0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61528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3A213-9A08-83FF-31E1-9F6A1E7BF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D3ACAD-56CE-382F-9A35-2EE1B5ED7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864D9-AA72-E2C0-D7DC-67A648DC4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4819D-44C7-8700-C876-297406B73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B0C9A-7456-B9A3-44A6-6985C5DE8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88243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3B050-BFD1-4D4A-D71D-3977D6666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834E9-83B8-EA1A-46E5-25A72CFBD9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685B3D-7D98-02F1-BF88-31FE20F453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6C1C6A-28B0-AA3E-3A27-DDB52CAB3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15A17-FC47-8A8C-EF87-413D6A219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ACECE-213D-995B-4831-701ACC6A6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8658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82791-CF2B-129F-92D7-2B05F1489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34D488-F085-6694-C3CA-42409EAAE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75BF68-087A-42E8-4753-57A511132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7AFD2F-5D8E-30B9-B8B8-E01B3B5019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46DA77-04D6-8B10-C456-366AE07EE8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1B11CF-86A0-3689-95DF-1B7A94096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FA39A0-F7C1-FB7B-E491-9434DE3AF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5D6D15-FCDD-6CFD-7DF0-6E49E01D8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98540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B8D1D-0569-A2B4-C8ED-C2F1054B0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16E50E-A22D-6BFF-1429-D771EA271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AFC58F-B80D-956A-1F97-70C7CA4B6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79DAFA-3D78-9E2E-FC71-19BD2F361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76906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D9D48F-9766-A54B-7812-839CE2A9A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CAB327-813A-CD0D-4BD2-4BD946255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4253B-E78D-BE18-AEC9-FF9B1DCEA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0767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1F759-5AD4-29F3-9100-380C327A3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D1D08-B0AE-1A81-ED3A-4891CA586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BE2144-7A9C-63CF-07DA-F16FA8951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8C05BF-5AFD-CB1E-6BBD-C380B8B61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B00B56-8C85-7B6E-B167-19EB63F99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32334E-555D-CFB0-89D0-97D325BD0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0876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65F6C-7D9B-8CDB-4FDA-97617DA5E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52A286-EF39-D19F-6AED-D9D1E3932E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94D32E-F03A-72D2-D095-05458B890F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F2E7A-3207-459D-2769-6252ACDB8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0A2F3A-5C5A-BBE6-F3D0-05602942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601AB9-BD39-E705-A930-BFEF8ABFD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83377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5201F-B1B7-1029-296C-F720FDDA6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A8998-A410-7754-0E14-382F89432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C6493-FD71-AA44-55C4-8E72B7560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CAD15-C080-10B8-6D64-1E1159EDB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1EEA8-9FC4-B190-02F1-BC7405008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81718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2DECAC-E3F3-8704-B1BB-B4599F6C78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D0DDDF-2C2B-691D-F92A-352397B5A2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C1735-3023-318F-2D75-3FE775A86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C4CE3-9C4C-B664-36C2-B29412816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C1162-1EF0-D539-CB95-467208EE4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1463803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FA727A-90BD-E82F-E243-C3F5F8D8F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6FA7B-70A6-DC96-2F02-BAF9C141D7D9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1C8F7-D386-CD19-8EBB-064398CE2356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9B90E-4F2C-02F3-B1CA-3759529150D5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FD51E-3D4A-2DF5-5A0A-A22034274966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6120127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Title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Report:</a:t>
            </a:r>
            <a:r>
              <a:rPr/>
              <a:t> Intellectual Property (IP) and Trade Secret Protection Audit</a:t>
            </a:r>
          </a:p>
          <a:p>
            <a:pPr lvl="0" indent="0" marL="0">
              <a:buNone/>
            </a:pPr>
            <a:r>
              <a:rPr b="1"/>
              <a:t>Business Unit:</a:t>
            </a:r>
            <a:r>
              <a:rPr/>
              <a:t> R&amp;D / Legal</a:t>
            </a:r>
          </a:p>
          <a:p>
            <a:pPr lvl="0" indent="0" marL="0">
              <a:buNone/>
            </a:pPr>
            <a:r>
              <a:rPr b="1"/>
              <a:t>Date:</a:t>
            </a:r>
            <a:r>
              <a:rPr/>
              <a:t> March 28,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Objectives</a:t>
            </a:r>
          </a:p>
          <a:p>
            <a:pPr lvl="0" indent="0" marL="0">
              <a:buNone/>
            </a:pPr>
            <a:r>
              <a:rPr/>
              <a:t>To assess the controls protecting proprietary designs, patents, and customer lists.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Background</a:t>
            </a:r>
          </a:p>
          <a:p>
            <a:pPr lvl="0" indent="0" marL="0">
              <a:buNone/>
            </a:pPr>
            <a:r>
              <a:rPr/>
              <a:t>The company holds 50 active patents and maintains a proprietary client algorithm.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Scope</a:t>
            </a:r>
          </a:p>
          <a:p>
            <a:pPr lvl="0" indent="0" marL="0">
              <a:buNone/>
            </a:pPr>
            <a:r>
              <a:rPr/>
              <a:t>Review of data access controls, NDAs, and physical security of R&amp;D labs.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1: Excessive Access to Source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40% of IT staff have full access to the proprietary source code repository.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Intellectual property theft or accidental deletion of critical code.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INADEQUATE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Implement ‘Least Privilege’ access and just-in-time permissions.</a:t>
            </a:r>
          </a:p>
          <a:p>
            <a:pPr lvl="0" indent="0" marL="0">
              <a:buNone/>
            </a:pPr>
            <a:r>
              <a:rPr b="1"/>
              <a:t>Status:</a:t>
            </a:r>
            <a:r>
              <a:rPr/>
              <a:t> Open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2: Inadequate Offboarding for R&amp;D Staff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Terminated engineers retained access to the cloud design portal for up to 7 days.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Exfiltration of pre-patent designs by departing employees.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INADEQUATE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Automate the offboarding workflow for high-risk IP access.</a:t>
            </a:r>
          </a:p>
          <a:p>
            <a:pPr lvl="0" indent="0" marL="0">
              <a:buNone/>
            </a:pPr>
            <a:r>
              <a:rPr b="1"/>
              <a:t>Status:</a:t>
            </a:r>
            <a:r>
              <a:rPr/>
              <a:t> In Progress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Recommendations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Restrict source code access to active developers only.</a:t>
            </a:r>
          </a:p>
          <a:p>
            <a:pPr lvl="0" indent="-457200" marL="457200">
              <a:buAutoNum type="arabicPeriod"/>
            </a:pPr>
            <a:r>
              <a:rPr/>
              <a:t>Deploy Data Loss Prevention (DLP) software on R&amp;D endpoints.</a:t>
            </a:r>
          </a:p>
          <a:p>
            <a:pPr lvl="0" indent="-457200" marL="457200">
              <a:buAutoNum type="arabicPeriod"/>
            </a:pPr>
            <a:r>
              <a:rPr/>
              <a:t>Conduct exit interviews specifically focused on IP obligations.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Management Action Plan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16100"/>
          <a:ext cx="105156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Action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Deadline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DLP Deployment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CISO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September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Access Cleanup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R&amp;D Manager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April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Offboarding Automation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IT / HR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May 2026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2026-01-25T15:34:07Z</dcterms:created>
  <dcterms:modified xsi:type="dcterms:W3CDTF">2026-01-25T15:34:07Z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